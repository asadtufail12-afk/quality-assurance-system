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EC2D-B9C7-B1B9-526C-151861CCA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0260B-3FFB-E384-10F1-1E1DC915E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E74F6-E0D4-9E84-235E-A738473A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CB3D-937C-3BDE-B315-B2D7F775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4E907-FA36-7522-EFC6-8833AD4C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5399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3C33-48FA-D994-8CF2-899B90AD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90CA-7DB9-558C-8ADB-AFD8D75DA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E5325-4918-1BC0-1DA9-F0F3FF7E1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0551-3ED2-25BD-78CB-C783C0FA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F6D4-9663-387F-E7AC-C820EB04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759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BFAA-E071-7B8D-DFA4-1F297F16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1320-C609-ECFF-F76E-287D7288F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C038B-3448-B83D-F07F-B9D253D5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63003-F2FF-D58E-FCE5-742E9AC7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BFE9-0C23-6C8D-13C1-D815F384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155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E1D0-C639-EEAC-EEC7-47F2051F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17D3-1579-3742-C8B5-E3C908C76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99F47-FB9F-B725-BEAA-69811B0F7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E75FC-D4DC-267B-F389-3F21C5E9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37BFF-CBD4-FF23-B734-AC924175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525D9-1126-2A53-5A93-39779348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82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4D41-AA12-EC14-032F-10C53A0B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ACD84-7C18-2E90-4E40-836E7FF0A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5A580-CEF1-CEBF-2533-43F947AD4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9A708-3FD8-0881-05B7-E126C74D8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D3EC7-B1E5-147E-AFA2-F58D3312E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F6E2A-E649-3F44-6B13-BC55EC18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EB881-0DB1-1D12-FCAB-FBD8EA93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9960E-2EE2-11B6-EE58-17F3DF60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623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8A5C-2A22-D096-2793-B5816FE2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E790A-E42F-E019-D9A5-BEEC8A87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A8BA1-C958-9A6C-1DAA-1DBAE110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EB9F4-7221-469F-45CB-B28BDB76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236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073FE-425B-E49E-D8C6-1ECDF43F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AF7A7-6B76-985E-EF2F-89768569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0A522-1118-5313-FF9F-1464FF5B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627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9A05-9EC0-E1E4-CCEB-E1DD6E34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DA198-805D-4182-7667-99765B6D0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0C46-91E9-82EA-F308-04202EF43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50442-22CF-0008-D1C8-DEC3C65D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70B1B-C6DF-E38B-9717-C997F93D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4DAAF-B0DB-E2DE-E808-6EA9669A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019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0156-BA8C-EEE3-EC5A-EA914A02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5877D-06B5-4F3D-4DFE-44F0408A0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2F3D0-67B5-6812-705E-621FCA682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8C255-539A-55F1-9537-C8AA9E74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09296-E5A4-A759-7338-5ACC27CF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92F4F-84F0-FA52-4488-B47508F5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761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9EB4-887A-F2E6-52D9-5F0D1621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44BF6-2751-DF83-FEBC-C93F0FD49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FB04A-063B-84EE-60E2-B03CB3F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D2821-453B-964E-F90F-CFB6B9F1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C24D-6416-A111-C5C9-BBE9E4C7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621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DD04B-3552-A9EF-11B4-E189E7D72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3834F-83B2-21A5-8E9B-DEF184D26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580D-91DD-7222-01F9-B9BC37CA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41B45-42ED-1EFC-B7DA-AB9C6A43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E8C5-D0DC-C021-BF9B-7D9AED80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1765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F084-7F8C-55C5-0E42-7AA91739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D768-8956-723E-28F9-8CB7C3E2B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6B1F-D26B-B454-3D9E-2C566E3A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845E-8C1B-57F9-5BD1-0458B4B5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B42B-D851-194E-B184-CE7D3D33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053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C9081-671F-A9EB-F0CB-6F998E28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00B5-8EC7-918F-2486-DC034606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398DD-968E-49C5-3EB6-4A6B8E06D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6E10D-BF8E-4E1A-83CB-FF4E88366C62}" type="datetimeFigureOut">
              <a:rPr lang="en-PK" smtClean="0"/>
              <a:t>27/02/2026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3A9C-5D4D-3856-C6F7-8C800B552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22757-D2E6-4FB4-5736-0346C1EA4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E9D8A-5AD1-41E8-AE70-F83B521F5FA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29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7E1A-7B45-21D4-B447-E90658C85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Diagnostic Center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5397E-73DF-DA40-3CBE-6BEED097D2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Annual QA Analysis 2025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469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147C-B0B7-E30C-C137-2CC2E1FD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78A20-226D-5E29-86C0-768AE42B5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OVERALL STATISTICS:
â€¢ Total Specimens: 324,119
â€¢ Total Rejected: 118 (0.036%)
â€¢ Average QC Acceptance: 93.1%
CRITICAL ISSUES:
1. Hematology - April data corruption
2. Routine Chemistry - QC dropped to 82.3% (Dec)
3. Special Chemistry - Below 95% target
4. Molecular Pathology &amp; Histopathology - No QC performed
TOTAL PANIC NOT INFORMED: 16 cases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770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6D67-6CB6-DE7C-97C7-5A0DE868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ðŸš¨ CRITICAL ALERTS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125DE-8549-2F63-7869-ACF4F9491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/>
              <a:t>IMMEDIATE ACTION REQUIRED:
1. HEMATOLOGY - APRIL DATA CORRUPTION
   â€¢ 190 failed QC out of 0 tests run (Impossible)
   â€¢ Shows 0% QC acceptance - Data entry error
   â€¢ 1500% panic notification rate (Impossible)
2. ROUTINE CHEMISTRY - CRITICAL DECLINE
   â€¢ December QC dropped to 82.3%
   â€¢ 5 consecutive months below 90%
   â€¢ Equipment calibration needed
3. MISSED PANIC NOTIFICATIONS
   â€¢ 16 critical results not informed
   â€¢ Patient safety risk
4. NO QC IN MOLECULAR &amp; HISTOPATHOLOGY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292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A31E-7190-8FF1-828B-5ABEA572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Hematology Analysis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7046-F0BC-9A03-8403-2BD150F54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STATISTICS:
â€¢ Total Specimens: 111,307
â€¢ Rejected Samples: 80
â€¢ QC Acceptance: 90.9%
â€¢ Panic Notification: 98.3%
MONTHLY HIGHLIGHTS:
â€¢ Peak Month: October (12,936 specimens)
â€¢ Low QC: December (96.7%)
â€¢ April: DATA ERROR - Results unreliable
ISSUES:
âš  April data corrupted - investigate
âš  16 panic results not informed
âš  QC below 95% target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722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55FD-D116-3862-00D9-5114BA32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Routine Chemistry - CONCERN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9D20-A48A-CA20-5C25-75C2E21EC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STATISTICS:
â€¢ Total Specimens: 106,357
â€¢ QC Acceptance: 88.8% (AVG)
â€¢ Panic Notification: 100%
â€¢ December QC: 82.3% (LOWEST)
QC TREND:
â€¢ January: 92% â†’ February: 84%
â€¢ March: 95% â†’ April: 87%
â€¢ Continues declining...
â€¢ December: 82.3% âš ï¸
CONCERNS:
ðŸš¨ NEVER reached 95% target
ðŸš¨ Equipment calibration needed
ðŸš¨ Declining trend continues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116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F1DF-BFB4-A20B-F251-E36014E6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Chemistry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E4A5C-B3C3-D3A6-3C4E-A8ADAFB9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STATISTICS:
â€¢ Total Specimens: 60,944
â€¢ QC Acceptance: 90.5% (AVG)
â€¢ Panic Notification: 100%
â€¢ Lowest: February (81%)
MONTHLY QC:
â€¢ Jan: 89% | Feb: 81% | Mar: 93%
â€¢ Apr: 83% | May: 85% | Jun: 89.5%
â€¢ Jul: 95.5% | Aug: 94.5% | Sep: 96.3%
â€¢ Oct: 95% | Nov: 96.3% | Dec: 93.5%
STATUS:
âœ“ Improving in recent months
âš  Below 95% for most of year
âš  External QA documentation needed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552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D87C-272D-19E6-115E-1529C026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Microbiology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7CCE2-1D80-51C7-020A-DA0C4C893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STATISTICS:
â€¢ Total Specimens: 42,882
â€¢ QC Acceptance: 99.7% (BEST)
â€¢ Rejected Samples: 5
ISSUES:
âš  October: 0% QC acceptance
âš  No External QA documented
âš  Only 1 month with QC failure
RECOMMENDATIONS:
â€¢ Maintain good QC performance
â€¢ Document External QA
â€¢ Investigate October anomaly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68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985D-87FA-9BF7-44BC-8F1D3388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Molecular &amp; Histopathology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F48D5-C309-DFCC-10DF-6BA5D2E73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âš ï¸ NO QC PERFORMED IN BOTH SECTIONS
MOLECULAR PATHOLOGY:
â€¢ Specimens: 620
â€¢ QC: 0%
â€¢ External QA: 0%
HISTOPATHOLOGY:
â€¢ Specimens: 2,009
â€¢ QC: 0%
â€¢ External QA: 0%
ACTION REQUIRED:
ðŸš¨ Implement QC program
ðŸš¨ Start External QA
ðŸš¨ Monitor outsourcing quality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913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09B3-F804-8931-EC30-DB70960F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430D1-67B2-58A7-273C-D4F5E3C59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IMMEDIATE (This Week):
1. Fix April Hematology data
2. Investigate Routine Chemistry equipment
3. Increase QC frequency
HIGH PRIORITY (This Month):
1. Implement automated panic alerts
2. Resume External QA for all sections
3. Start QC in Molecular/Histopathology
4. Equipment maintenance schedule
ONGOING MONITORING:
1. Track monthly QC (target: 95%+)
2. Data integrity audits
3. Staffing for high-volume periods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738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Diagnostic Center</vt:lpstr>
      <vt:lpstr>Executive Summary</vt:lpstr>
      <vt:lpstr>ðŸš¨ CRITICAL ALERTS</vt:lpstr>
      <vt:lpstr>Hematology Analysis</vt:lpstr>
      <vt:lpstr>Routine Chemistry - CONCERN</vt:lpstr>
      <vt:lpstr>Special Chemistry</vt:lpstr>
      <vt:lpstr>Microbiology</vt:lpstr>
      <vt:lpstr>Molecular &amp; Histopathology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Tufail</dc:creator>
  <cp:lastModifiedBy>Asad Tufail</cp:lastModifiedBy>
  <cp:revision>1</cp:revision>
  <dcterms:created xsi:type="dcterms:W3CDTF">2026-02-27T06:17:28Z</dcterms:created>
  <dcterms:modified xsi:type="dcterms:W3CDTF">2026-02-27T06:17:29Z</dcterms:modified>
</cp:coreProperties>
</file>